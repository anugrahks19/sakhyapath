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5b60e297fc4a22" /><Relationship Type="http://schemas.openxmlformats.org/officeDocument/2006/relationships/extended-properties" Target="/docProps/app.xml" Id="R205f9c5e86194b9b" /><Relationship Type="http://schemas.openxmlformats.org/officeDocument/2006/relationships/officeDocument" Target="/ppt/presentation.xml" Id="R014c09df60c34c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5942740adf4779"/>
  </p:sldMasterIdLst>
  <p:notesMasterIdLst>
    <p:notesMasterId xmlns:r="http://schemas.openxmlformats.org/officeDocument/2006/relationships" r:id="R7c6449ccc2cf450a"/>
  </p:notesMasterIdLst>
  <p:sldIdLst>
    <p:sldId xmlns:r="http://schemas.openxmlformats.org/officeDocument/2006/relationships" id="256" r:id="R6a0843fe288640cd"/>
    <p:sldId xmlns:r="http://schemas.openxmlformats.org/officeDocument/2006/relationships" id="257" r:id="R033f627ecbe54458"/>
    <p:sldId xmlns:r="http://schemas.openxmlformats.org/officeDocument/2006/relationships" id="258" r:id="Rdb66be7826334aa0"/>
    <p:sldId xmlns:r="http://schemas.openxmlformats.org/officeDocument/2006/relationships" id="259" r:id="R81c5f2481424402b"/>
    <p:sldId xmlns:r="http://schemas.openxmlformats.org/officeDocument/2006/relationships" id="260" r:id="R6d4c108e1a004312"/>
    <p:sldId xmlns:r="http://schemas.openxmlformats.org/officeDocument/2006/relationships" id="261" r:id="Rd534470bf24a43c3"/>
    <p:sldId xmlns:r="http://schemas.openxmlformats.org/officeDocument/2006/relationships" id="262" r:id="R985de9c466c84985"/>
    <p:sldId xmlns:r="http://schemas.openxmlformats.org/officeDocument/2006/relationships" id="263" r:id="R982ab6f330584624"/>
    <p:sldId xmlns:r="http://schemas.openxmlformats.org/officeDocument/2006/relationships" id="264" r:id="R3e685d4f4e334d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51882e1dee4370" /><Relationship Type="http://schemas.openxmlformats.org/officeDocument/2006/relationships/slideMaster" Target="/ppt/slideMasters/slideMaster1.xml" Id="R695942740adf4779" /><Relationship Type="http://schemas.openxmlformats.org/officeDocument/2006/relationships/notesMaster" Target="/ppt/notesMasters/notesMaster1.xml" Id="R7c6449ccc2cf450a" /><Relationship Type="http://schemas.openxmlformats.org/officeDocument/2006/relationships/presProps" Target="/ppt/presProps.xml" Id="R178fb19ff2584025" /><Relationship Type="http://schemas.openxmlformats.org/officeDocument/2006/relationships/tableStyles" Target="/ppt/tableStyles.xml" Id="Ra4f9c70cec7442eb" /><Relationship Type="http://schemas.openxmlformats.org/officeDocument/2006/relationships/slide" Target="/ppt/slides/slide1.xml" Id="R6a0843fe288640cd" /><Relationship Type="http://schemas.openxmlformats.org/officeDocument/2006/relationships/slide" Target="/ppt/slides/slide2.xml" Id="R033f627ecbe54458" /><Relationship Type="http://schemas.openxmlformats.org/officeDocument/2006/relationships/slide" Target="/ppt/slides/slide3.xml" Id="Rdb66be7826334aa0" /><Relationship Type="http://schemas.openxmlformats.org/officeDocument/2006/relationships/slide" Target="/ppt/slides/slide4.xml" Id="R81c5f2481424402b" /><Relationship Type="http://schemas.openxmlformats.org/officeDocument/2006/relationships/slide" Target="/ppt/slides/slide5.xml" Id="R6d4c108e1a004312" /><Relationship Type="http://schemas.openxmlformats.org/officeDocument/2006/relationships/slide" Target="/ppt/slides/slide6.xml" Id="Rd534470bf24a43c3" /><Relationship Type="http://schemas.openxmlformats.org/officeDocument/2006/relationships/slide" Target="/ppt/slides/slide7.xml" Id="R985de9c466c84985" /><Relationship Type="http://schemas.openxmlformats.org/officeDocument/2006/relationships/slide" Target="/ppt/slides/slide8.xml" Id="R982ab6f330584624" /><Relationship Type="http://schemas.openxmlformats.org/officeDocument/2006/relationships/slide" Target="/ppt/slides/slide9.xml" Id="R3e685d4f4e334d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a874fef1ac4b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8d7153f88c4d4e" /><Relationship Type="http://schemas.openxmlformats.org/officeDocument/2006/relationships/notesMaster" Target="/ppt/notesMasters/notesMaster1.xml" Id="Rc962cf8101c640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96eecf4a2c4da7" /><Relationship Type="http://schemas.openxmlformats.org/officeDocument/2006/relationships/notesMaster" Target="/ppt/notesMasters/notesMaster1.xml" Id="R79467c509fa14d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e9d06cf00143b5" /><Relationship Type="http://schemas.openxmlformats.org/officeDocument/2006/relationships/notesMaster" Target="/ppt/notesMasters/notesMaster1.xml" Id="Rd876f772bad545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72e4bfc402440f" /><Relationship Type="http://schemas.openxmlformats.org/officeDocument/2006/relationships/notesMaster" Target="/ppt/notesMasters/notesMaster1.xml" Id="Rb6fac363773a40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de34c683204806" /><Relationship Type="http://schemas.openxmlformats.org/officeDocument/2006/relationships/notesMaster" Target="/ppt/notesMasters/notesMaster1.xml" Id="R89634cb2a40b44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db1ec76f4b43b7" /><Relationship Type="http://schemas.openxmlformats.org/officeDocument/2006/relationships/notesMaster" Target="/ppt/notesMasters/notesMaster1.xml" Id="R801fd12d7ec646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193728a0f049a0" /><Relationship Type="http://schemas.openxmlformats.org/officeDocument/2006/relationships/notesMaster" Target="/ppt/notesMasters/notesMaster1.xml" Id="R40a5df8a6d2b4b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365c1780bb49f9" /><Relationship Type="http://schemas.openxmlformats.org/officeDocument/2006/relationships/notesMaster" Target="/ppt/notesMasters/notesMaster1.xml" Id="R22d92c5a340748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1f7267d671446d" /><Relationship Type="http://schemas.openxmlformats.org/officeDocument/2006/relationships/notesMaster" Target="/ppt/notesMasters/notesMaster1.xml" Id="R201726d7e7b94c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illustration generated for this deck; it is not a Government feed. Project status and scope: README.md and docs/SUBMISSION_READINESS.md.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hackathon_source_index/README.md, especially background, Model 1, technical evaluation, and statewide scale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README.md; docs/MODULE1_RUNBOOK.md; docs/MODULE2_RUNBOOK.md; docs/MODULE3_RUNBOOK.md; docs/MODULE4_RUNBOOK.md. These are locally implemented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SakhyaPath_technical_blueprint.md; docs/MODULE3_RUNBOOK.md; docs/MODULE4_RUNBOOK.md. Evidence and inference are distinct in the UI and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map image generated for this deck, not real footage or GIS data. Source of product logic: docs/MODULE4_RUNBOOK.md and docs/MODULE4_HLD.md.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output/benchmarks and docs/SUBMISSION_READINESS.md. Local owned replay test, not Sentinel or Indian-road holdout footage.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docs/MODULE4_RUNBOOK.md and output/benchmarks. The official sample comparison is controlled and cannot establish field performance. scripts/compare_recorded_sampling.py is ready for permission-cleared footage.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docs/PRODUCTION_GATE.md; docs/MODULE4_HLD.md; output/benchmarks/capacity_50_assumptions.json; output/benchmarks/capacity_80000_assumptions.json. These are phases and assumptions, not completed deployments.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hackathon_source_index/README.md; docs/SUBMISSION_READINESS.md. None of the pending gates should be described as complete before footage and authorised access are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5a39ad70d43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6e391d15344d2b" /><Relationship Type="http://schemas.openxmlformats.org/officeDocument/2006/relationships/slideLayout" Target="/ppt/slideLayouts/slideLayout1.xml" Id="Rb6cd715fc85b4e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cd715fc85b4e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6b8000c39463b" /><Relationship Type="http://schemas.openxmlformats.org/officeDocument/2006/relationships/image" Target="/ppt/media/image.png" Id="R56135c3bf1de4350" /><Relationship Type="http://schemas.openxmlformats.org/officeDocument/2006/relationships/notesSlide" Target="/ppt/notesSlides/notesSlide1.xml" Id="R6caf1faf7b5946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ddf2a40144eba" /><Relationship Type="http://schemas.openxmlformats.org/officeDocument/2006/relationships/notesSlide" Target="/ppt/notesSlides/notesSlide2.xml" Id="R39e97cea3d854d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01a6979ce4e80" /><Relationship Type="http://schemas.openxmlformats.org/officeDocument/2006/relationships/notesSlide" Target="/ppt/notesSlides/notesSlide3.xml" Id="Ree3ad6655f7d4e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ad1cb48d44610" /><Relationship Type="http://schemas.openxmlformats.org/officeDocument/2006/relationships/notesSlide" Target="/ppt/notesSlides/notesSlide4.xml" Id="Rcec7b1df0b7a44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7b4bc5d994396" /><Relationship Type="http://schemas.openxmlformats.org/officeDocument/2006/relationships/image" Target="/ppt/media/image2.png" Id="Rf55761b162e14b39" /><Relationship Type="http://schemas.openxmlformats.org/officeDocument/2006/relationships/notesSlide" Target="/ppt/notesSlides/notesSlide5.xml" Id="Rdb852f70390342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1cd7ff48d457d" /><Relationship Type="http://schemas.openxmlformats.org/officeDocument/2006/relationships/notesSlide" Target="/ppt/notesSlides/notesSlide6.xml" Id="R92869d297dde42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4804648a9411f" /><Relationship Type="http://schemas.openxmlformats.org/officeDocument/2006/relationships/notesSlide" Target="/ppt/notesSlides/notesSlide7.xml" Id="Rb993bb0d1f5846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e41b957c84fcd" /><Relationship Type="http://schemas.openxmlformats.org/officeDocument/2006/relationships/notesSlide" Target="/ppt/notesSlides/notesSlide8.xml" Id="R482dd06125d949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ed3d00f0d4464" /><Relationship Type="http://schemas.openxmlformats.org/officeDocument/2006/relationships/notesSlide" Target="/ppt/notesSlides/notesSlide9.xml" Id="R7f37926a82ab45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35c3bf1de435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787F2-AF7D-43AB-B1C4-902FA012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647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SakhyaPath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F7214-F0D4-46F0-9FA3-11323396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5257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937"/>
                </a:solidFill>
                <a:latin typeface="Arial"/>
                <a:ea typeface="Arial"/>
                <a:cs typeface="Arial"/>
              </a:rPr>
              <a:t>Evidence backed CCTV intelligence for Gujarat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D1F63-1F93-424C-B8EC-CF3505AF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HYBRID ARCHITECTURE  ·  LOCAL PROTOTYPE</a:t>
            </a:r>
          </a:p>
        </p:txBody>
      </p:sp>
    </p:spTree>
    <p:extLst>
      <p:ext uri="{BB962C8B-B14F-4D97-AF65-F5344CB8AC3E}">
        <p14:creationId xmlns:p14="http://schemas.microsoft.com/office/powerpoint/2010/main" val="2473164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B5D8B-3190-4AB2-A5D1-A72B39FD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PROBLEM AND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64C09-808F-45D1-BBD2-11269555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34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The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89DEA-C661-40EE-9ACC-65C0842F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SAKHYAPATH  ·  GUJARAT CCTV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842CF-34B6-4FAB-81DC-C6A7E63A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AE1E4-171F-4964-AC5F-401E65ED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4714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85D89"/>
                </a:solidFill>
                <a:latin typeface="Arial"/>
                <a:ea typeface="Arial"/>
                <a:cs typeface="Arial"/>
              </a:rPr>
              <a:t>26 departments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98FC8-C017-4400-8AAF-2DFAB352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937"/>
                </a:solidFill>
                <a:latin typeface="Arial"/>
                <a:ea typeface="Arial"/>
                <a:cs typeface="Arial"/>
              </a:rPr>
              <a:t>Existing CCTV spans different vendors, formats and locations.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2C38E-191A-47BB-A4EE-39B56E44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Mandatory 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CA39E-806B-44FB-B762-0F517EF9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67025"/>
            <a:ext cx="4572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937"/>
                </a:solidFill>
                <a:latin typeface="Arial"/>
                <a:ea typeface="Arial"/>
                <a:cs typeface="Arial"/>
              </a:rPr>
              <a:t>A common camera registry and GIS view must precede selective analytics and cross camera search.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A0560-06EA-4B0B-BE9E-28B0EAE4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006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The live evaluation calls for roughly 50 heterogeneous feeds, vehicle history, watchlist alerts and a credible path to about 80,000 cameras.</a:t>
            </a:r>
          </a:p>
        </p:txBody>
      </p:sp>
    </p:spTree>
    <p:extLst>
      <p:ext uri="{BB962C8B-B14F-4D97-AF65-F5344CB8AC3E}">
        <p14:creationId xmlns:p14="http://schemas.microsoft.com/office/powerpoint/2010/main" val="30444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E778B-8BD8-410E-93E9-01208982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D277A-1568-45BA-B432-D13D7647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34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What we built locally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396B7-0655-4046-8944-A5AA6F75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SAKHYAPATH  ·  GUJARAT CCTV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E3CF3-EE6A-4F35-A41B-21258C61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28B30-07C2-4E30-8536-F3A8A5AA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359BB-0952-45B2-B784-D9B66E29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0325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Camera grid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FDFAC-619C-44CC-9868-CD655A5C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32194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Registry, map, Sentinel catalogue adapter, owned RTSP/HLS capture and controlled preview.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CF897-B56B-4484-90C3-E8AEB99A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8120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A67EC-C2F5-4F24-9CEA-0E74CAC8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00325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Evidence trail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9D655-7CDB-413C-BE2B-772F538D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81375"/>
            <a:ext cx="32194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Plate reads, crops, watchlist alerts, historical search, journey map and reviewer corrections.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8A759-95C7-4680-B76A-4A6A0907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8120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0BF9F-0D40-4BCC-B8AD-ACD7CC94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0325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Adaptive pursuit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5EBF0-0C60-46C3-B332-2E8DAD0F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81375"/>
            <a:ext cx="32194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Measured analysis budget, camera ranking and a ledger that records what was viewed, missed or unavailable.</a:t>
            </a:r>
          </a:p>
        </p:txBody>
      </p:sp>
    </p:spTree>
    <p:extLst>
      <p:ext uri="{BB962C8B-B14F-4D97-AF65-F5344CB8AC3E}">
        <p14:creationId xmlns:p14="http://schemas.microsoft.com/office/powerpoint/2010/main" val="463785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406D1-FA26-4F9B-9171-6A0FC80D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USER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183AF-D2CC-48E7-8E6A-4EDFD751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34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A case follows the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12697-565F-42EA-A218-DCC3BBDD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SAKHYAPATH  ·  GUJARAT CCTV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686BE-978A-4FF2-B55E-7E82109D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844D6-9E7E-414A-846A-A8DF4938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1  Register a vehicle of interest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FA8E7-5D29-42CA-B33D-B83D22F6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527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2  Read authorised camera frames and save source timing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D3134-DBB2-4278-A480-7921B1DA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3  Confirm plate evidence and compare with the watchlist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672B7-AC2A-4AD4-9A7E-977F991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96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4  Show the journey, uncertainty and coverage gaps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88139-176B-4AC5-AE5E-29581A26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A human reviewer can correct detections and export the case report.</a:t>
            </a:r>
          </a:p>
        </p:txBody>
      </p:sp>
    </p:spTree>
    <p:extLst>
      <p:ext uri="{BB962C8B-B14F-4D97-AF65-F5344CB8AC3E}">
        <p14:creationId xmlns:p14="http://schemas.microsoft.com/office/powerpoint/2010/main" val="1430573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39AF9-47CB-40CA-A30A-2BFB7BE4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DISTINCTIVE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A6FAE-F162-48D3-9788-810CC4B8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34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Coverage is part of the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1EB74-F73B-41E1-86D6-3BA8EDCF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SAKHYAPATH  ·  GUJARAT CCTV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17C8F-5258-4701-BB43-4822D179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761b162e14b39"/>
          <a:srcRect xmlns:a="http://schemas.openxmlformats.org/drawingml/2006/main" l="10935" t="0" r="109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1695450"/>
            <a:ext cx="5619750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3476A-2686-4112-A1E5-60BB6B3E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The ledger records: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B1C2A-3439-4C3D-B116-7C131261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05375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5D89"/>
                </a:solidFill>
                <a:latin typeface="Arial"/>
                <a:ea typeface="Arial"/>
                <a:cs typeface="Arial"/>
              </a:rPr>
              <a:t>Seen and analysed</a:t>
            </a:r>
          </a:p>
          <a:p xmlns:a="http://schemas.openxmlformats.org/drawingml/2006/main">
            <a:pPr>
              <a:defRPr sz="1950" b="0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5D89"/>
                </a:solidFill>
                <a:latin typeface="Arial"/>
                <a:ea typeface="Arial"/>
                <a:cs typeface="Arial"/>
              </a:rPr>
              <a:t>Available but skipped</a:t>
            </a:r>
          </a:p>
          <a:p xmlns:a="http://schemas.openxmlformats.org/drawingml/2006/main">
            <a:pPr>
              <a:defRPr sz="1950" b="0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5D89"/>
                </a:solidFill>
                <a:latin typeface="Arial"/>
                <a:ea typeface="Arial"/>
                <a:cs typeface="Arial"/>
              </a:rPr>
              <a:t>Temporarily unavailable</a:t>
            </a:r>
          </a:p>
          <a:p xmlns:a="http://schemas.openxmlformats.org/drawingml/2006/main">
            <a:pPr>
              <a:defRPr sz="1950" b="0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5D89"/>
                </a:solidFill>
                <a:latin typeface="Arial"/>
                <a:ea typeface="Arial"/>
                <a:cs typeface="Arial"/>
              </a:rPr>
              <a:t>Unknown or unverified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A03F6-6D34-4D74-981B-B039BEEB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48275"/>
            <a:ext cx="4953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A missing sighting is not proof that a vehicle was absent.</a:t>
            </a:r>
          </a:p>
        </p:txBody>
      </p:sp>
    </p:spTree>
    <p:extLst>
      <p:ext uri="{BB962C8B-B14F-4D97-AF65-F5344CB8AC3E}">
        <p14:creationId xmlns:p14="http://schemas.microsoft.com/office/powerpoint/2010/main" val="20575842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BA3F6-6D9C-47AA-A302-591408BF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6E5B2-9EDC-4F70-A14B-6763DCBC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34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A measured local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91920-A49B-4CFD-97BA-5F318D2F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SAKHYAPATH  ·  GUJARAT CCTV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6AD0E-0F64-4A9D-B410-95D5D3B1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50BD4-75B8-46C6-A1B8-7FFEBC31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095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225" b="1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285D8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3191A-523F-4B27-88D6-8E8AA072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95525"/>
            <a:ext cx="666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owned replay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29376-F170-4B5D-831F-EE1BB43C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051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85D89"/>
                </a:solidFill>
                <a:latin typeface="Arial"/>
                <a:ea typeface="Arial"/>
                <a:cs typeface="Arial"/>
              </a:rPr>
              <a:t>249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D7418-3F15-4911-A117-60DFD8AF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590925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analysed frames in 20.634 seconds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8F85C-88FD-435B-BB1B-E60BADA9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9810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12.067 fps observed across both feeds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838F2-7F2D-41B4-ADA8-DAC405A0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Planning budget: 8.447 fps with a 30% reserve. This is a local, two feed test; it is not a statewide capacity result.</a:t>
            </a:r>
          </a:p>
        </p:txBody>
      </p:sp>
    </p:spTree>
    <p:extLst>
      <p:ext uri="{BB962C8B-B14F-4D97-AF65-F5344CB8AC3E}">
        <p14:creationId xmlns:p14="http://schemas.microsoft.com/office/powerpoint/2010/main" val="17569388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5866E-EE8E-4EDF-8C92-212FE752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9058D-61B8-4746-A101-61FF8AC8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34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Adaptive sampling has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EA87A-D845-4671-9EEE-18132F0B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SAKHYAPATH  ·  GUJARAT CCTV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CF988-84AF-4BD2-82DD-BCCA7300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CD856-3EE0-4795-AB13-8D747AE3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857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5D89"/>
                </a:solidFill>
                <a:latin typeface="Arial"/>
                <a:ea typeface="Arial"/>
                <a:cs typeface="Arial"/>
              </a:rPr>
              <a:t>Expected branch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868D8-A319-4389-B2B2-44CF5346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4667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937"/>
                </a:solidFill>
                <a:latin typeface="Arial"/>
                <a:ea typeface="Arial"/>
                <a:cs typeface="Arial"/>
              </a:rPr>
              <a:t>The adaptive allocator found more target observations under the same sample budget.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4DE72-879A-4452-99D8-B094D737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38350"/>
            <a:ext cx="4857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Surprise branch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D0A41-85C8-4FA3-B8A4-E05BE730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00350"/>
            <a:ext cx="46386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937"/>
                </a:solidFill>
                <a:latin typeface="Arial"/>
                <a:ea typeface="Arial"/>
                <a:cs typeface="Arial"/>
              </a:rPr>
              <a:t>Uniform sampling found the unpredicted route more often in the controlled test.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6B469-E3CB-497B-BA97-7EC7DFA6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10287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Next validation: reset recorded routes, common clock checks and held out ground truth from multiple cameras.</a:t>
            </a:r>
          </a:p>
        </p:txBody>
      </p:sp>
    </p:spTree>
    <p:extLst>
      <p:ext uri="{BB962C8B-B14F-4D97-AF65-F5344CB8AC3E}">
        <p14:creationId xmlns:p14="http://schemas.microsoft.com/office/powerpoint/2010/main" val="4032627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1E943-0769-4C1C-BCDA-671E8AE4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SCALE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F0F12-961B-4FE0-ACA0-5114860D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34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Path to Government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C58C8-1064-4F9B-B7E3-ECEEFFD2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SAKHYAPATH  ·  GUJARAT CCTV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1631C-DF7F-4204-A9B0-EDDFF5D3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4D565-D691-4243-A13E-B91A8587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6D59A-AA3A-4E1E-89AC-AB1E1DDB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Authorised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F20C7-1FCC-44B1-BAD3-A8A5AC0F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3238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Prove catalogue sync, mixed codecs, source timestamps, 50 feed onboarding and timestamped detections.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125F9-397A-47DA-9D52-946938E4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4DD9E-DB33-4A52-8498-3213B6D5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Regional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CF3FF-EBD3-4EF9-9CCC-99DF4371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52800"/>
            <a:ext cx="3238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Add PostgreSQL/PostGIS, durable events, regional capture workers and encrypted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7271F-377F-4E87-ABE8-88FABE6B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526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82CBC-C752-4BF3-A989-939AE99F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717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Statewide expansion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1F57F-6AE9-4AE9-890C-3C5CDD75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52800"/>
            <a:ext cx="3238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Size active analysis, bandwidth, retention and recovery from measured pilot data.</a:t>
            </a:r>
          </a:p>
        </p:txBody>
      </p:sp>
    </p:spTree>
    <p:extLst>
      <p:ext uri="{BB962C8B-B14F-4D97-AF65-F5344CB8AC3E}">
        <p14:creationId xmlns:p14="http://schemas.microsoft.com/office/powerpoint/2010/main" val="17871867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B98D8-2B9C-44C0-8A4E-1BA64C82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SUBMISSION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57903-3810-4527-931C-A729E680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34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Evidence still needed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27AD3-A0E5-4E9C-B5E6-1D526E31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SAKHYAPATH  ·  GUJARAT CCTV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815C8-DAE8-4BCF-AD77-B4DAE81A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80B76-E115-4C83-96E7-2CCD07A1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5D89"/>
                </a:solidFill>
                <a:latin typeface="Arial"/>
                <a:ea typeface="Arial"/>
                <a:cs typeface="Arial"/>
              </a:rPr>
              <a:t>Sentinel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E2AC6-650F-4654-AF04-FC415BC0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4762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937"/>
                </a:solidFill>
                <a:latin typeface="Arial"/>
                <a:ea typeface="Arial"/>
                <a:cs typeface="Arial"/>
              </a:rPr>
              <a:t>Approve the registered account, give the catalogue origin and test the read only API.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FE3B2-3823-405B-BBA1-5AAEBC68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8595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5D89"/>
                </a:solidFill>
                <a:latin typeface="Arial"/>
                <a:ea typeface="Arial"/>
                <a:cs typeface="Arial"/>
              </a:rPr>
              <a:t>Permission cleared footage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3BCEC-5714-41C3-9064-8E076C58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4762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937"/>
                </a:solidFill>
                <a:latin typeface="Arial"/>
                <a:ea typeface="Arial"/>
                <a:cs typeface="Arial"/>
              </a:rPr>
              <a:t>Measure Indian plate accuracy, false alerts, misses and frame to alert latency.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BDF55-31C6-44D3-B71D-5181CBD9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Live submission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140CE-1F4A-4AB8-8A04-3B068099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38675"/>
            <a:ext cx="4857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937"/>
                </a:solidFill>
                <a:latin typeface="Arial"/>
                <a:ea typeface="Arial"/>
                <a:cs typeface="Arial"/>
              </a:rPr>
              <a:t>Record the own feed demo, Government feed demo and a real timestamped output report.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ECE7B-1A3A-4BF8-B00C-6E515A24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67175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Reproducible links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9B945-C639-404C-AC73-AA7957B1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38675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937"/>
                </a:solidFill>
                <a:latin typeface="Arial"/>
                <a:ea typeface="Arial"/>
                <a:cs typeface="Arial"/>
              </a:rPr>
              <a:t>Publish the presentation, HLD, videos and code in reviewer accessible locations.</a:t>
            </a:r>
          </a:p>
        </p:txBody>
      </p:sp>
    </p:spTree>
    <p:extLst>
      <p:ext uri="{BB962C8B-B14F-4D97-AF65-F5344CB8AC3E}">
        <p14:creationId xmlns:p14="http://schemas.microsoft.com/office/powerpoint/2010/main" val="3042216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2026-09-28T12:26:40.6670000Z</dcterms:created>
  <dcterms:modified xsi:type="dcterms:W3CDTF">2026-09-28T12:26:40.6670000Z</dcterms:modified>
</coreProperties>
</file>