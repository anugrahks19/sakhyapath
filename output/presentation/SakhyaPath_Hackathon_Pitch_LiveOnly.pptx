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4f4f962ed34476" /><Relationship Type="http://schemas.openxmlformats.org/officeDocument/2006/relationships/extended-properties" Target="/docProps/app.xml" Id="R5c0c73e7c39741e9" /><Relationship Type="http://schemas.openxmlformats.org/officeDocument/2006/relationships/officeDocument" Target="/ppt/presentation.xml" Id="R90a34fc7eaa24e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1c07ceacc24405"/>
  </p:sldMasterIdLst>
  <p:notesMasterIdLst>
    <p:notesMasterId xmlns:r="http://schemas.openxmlformats.org/officeDocument/2006/relationships" r:id="Rb8bd1b0fcfad4a6a"/>
  </p:notesMasterIdLst>
  <p:sldIdLst>
    <p:sldId xmlns:r="http://schemas.openxmlformats.org/officeDocument/2006/relationships" id="256" r:id="Rd19a999c1a394cf3"/>
    <p:sldId xmlns:r="http://schemas.openxmlformats.org/officeDocument/2006/relationships" id="257" r:id="Rdde0aac854ff41f6"/>
    <p:sldId xmlns:r="http://schemas.openxmlformats.org/officeDocument/2006/relationships" id="258" r:id="R94136af37ad8450e"/>
    <p:sldId xmlns:r="http://schemas.openxmlformats.org/officeDocument/2006/relationships" id="259" r:id="R4d71abc31fbd4c59"/>
    <p:sldId xmlns:r="http://schemas.openxmlformats.org/officeDocument/2006/relationships" id="260" r:id="R39f797ad40904d5e"/>
    <p:sldId xmlns:r="http://schemas.openxmlformats.org/officeDocument/2006/relationships" id="261" r:id="Rc6b34bf17aa648a1"/>
    <p:sldId xmlns:r="http://schemas.openxmlformats.org/officeDocument/2006/relationships" id="262" r:id="Rb63d168dac574270"/>
    <p:sldId xmlns:r="http://schemas.openxmlformats.org/officeDocument/2006/relationships" id="263" r:id="R3e5407de04654f23"/>
    <p:sldId xmlns:r="http://schemas.openxmlformats.org/officeDocument/2006/relationships" id="264" r:id="Rf54e9647a08944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71b8a1d31e477f" /><Relationship Type="http://schemas.openxmlformats.org/officeDocument/2006/relationships/slideMaster" Target="/ppt/slideMasters/slideMaster1.xml" Id="R081c07ceacc24405" /><Relationship Type="http://schemas.openxmlformats.org/officeDocument/2006/relationships/notesMaster" Target="/ppt/notesMasters/notesMaster1.xml" Id="Rb8bd1b0fcfad4a6a" /><Relationship Type="http://schemas.openxmlformats.org/officeDocument/2006/relationships/presProps" Target="/ppt/presProps.xml" Id="R36907c3550f2483c" /><Relationship Type="http://schemas.openxmlformats.org/officeDocument/2006/relationships/tableStyles" Target="/ppt/tableStyles.xml" Id="R5466b7c44e4d4df0" /><Relationship Type="http://schemas.openxmlformats.org/officeDocument/2006/relationships/slide" Target="/ppt/slides/slide1.xml" Id="Rd19a999c1a394cf3" /><Relationship Type="http://schemas.openxmlformats.org/officeDocument/2006/relationships/slide" Target="/ppt/slides/slide2.xml" Id="Rdde0aac854ff41f6" /><Relationship Type="http://schemas.openxmlformats.org/officeDocument/2006/relationships/slide" Target="/ppt/slides/slide3.xml" Id="R94136af37ad8450e" /><Relationship Type="http://schemas.openxmlformats.org/officeDocument/2006/relationships/slide" Target="/ppt/slides/slide4.xml" Id="R4d71abc31fbd4c59" /><Relationship Type="http://schemas.openxmlformats.org/officeDocument/2006/relationships/slide" Target="/ppt/slides/slide5.xml" Id="R39f797ad40904d5e" /><Relationship Type="http://schemas.openxmlformats.org/officeDocument/2006/relationships/slide" Target="/ppt/slides/slide6.xml" Id="Rc6b34bf17aa648a1" /><Relationship Type="http://schemas.openxmlformats.org/officeDocument/2006/relationships/slide" Target="/ppt/slides/slide7.xml" Id="Rb63d168dac574270" /><Relationship Type="http://schemas.openxmlformats.org/officeDocument/2006/relationships/slide" Target="/ppt/slides/slide8.xml" Id="R3e5407de04654f23" /><Relationship Type="http://schemas.openxmlformats.org/officeDocument/2006/relationships/slide" Target="/ppt/slides/slide9.xml" Id="Rf54e9647a089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ebe80146b54d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037b1b10a4d75" /><Relationship Type="http://schemas.openxmlformats.org/officeDocument/2006/relationships/notesMaster" Target="/ppt/notesMasters/notesMaster1.xml" Id="Rc13e10a511d84b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46740efe984b92" /><Relationship Type="http://schemas.openxmlformats.org/officeDocument/2006/relationships/notesMaster" Target="/ppt/notesMasters/notesMaster1.xml" Id="R3a619eab170b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774c57035e4d14" /><Relationship Type="http://schemas.openxmlformats.org/officeDocument/2006/relationships/notesMaster" Target="/ppt/notesMasters/notesMaster1.xml" Id="R333242e0a08644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47e3c96e34036" /><Relationship Type="http://schemas.openxmlformats.org/officeDocument/2006/relationships/notesMaster" Target="/ppt/notesMasters/notesMaster1.xml" Id="Rf755cbd9bac5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dafb3118ac4cd6" /><Relationship Type="http://schemas.openxmlformats.org/officeDocument/2006/relationships/notesMaster" Target="/ppt/notesMasters/notesMaster1.xml" Id="R23ca042b142046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2339a1a0a14271" /><Relationship Type="http://schemas.openxmlformats.org/officeDocument/2006/relationships/notesMaster" Target="/ppt/notesMasters/notesMaster1.xml" Id="Rb60521e1094f41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67eac7c6b24ab1" /><Relationship Type="http://schemas.openxmlformats.org/officeDocument/2006/relationships/notesMaster" Target="/ppt/notesMasters/notesMaster1.xml" Id="R709badffa91641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f55700184444a9" /><Relationship Type="http://schemas.openxmlformats.org/officeDocument/2006/relationships/notesMaster" Target="/ppt/notesMasters/notesMaster1.xml" Id="R48cd2c5bddbe4b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2f121308745e1" /><Relationship Type="http://schemas.openxmlformats.org/officeDocument/2006/relationships/notesMaster" Target="/ppt/notesMasters/notesMaster1.xml" Id="Rce137a33922349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illustration generated for this deck; it is not a Government feed. Project status and scope: README.md and docs/SUBMISSION_READINESS.md.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hackathon_source_index/README.md, especially background, Model 1, technical evaluation, and statewide scale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docs/MODULE1_RUNBOOK.md; docs/MODULE2_RUNBOOK.md; docs/MODULE3_RUNBOOK.md; docs/MODULE4_RUNBOOK.md. These are locally implemented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SakhyaPath_technical_blueprint.md; docs/MODULE3_RUNBOOK.md; docs/MODULE4_RUNBOOK.md. Evidence and inference are distinct in the UI and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map image generated for this deck, not real footage or GIS data. Source of product logic: docs/MODULE4_RUNBOOK.md and docs/MODULE4_HLD.md.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output/benchmarks and docs/SUBMISSION_READINESS.md. Local owned replay test, not Sentinel or Indian-road holdout footage.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docs/MODULE4_RUNBOOK.md and output/benchmarks. The official sample comparison is controlled and cannot establish field performance. scripts/compare_recorded_sampling.py is ready for permission-cleared footage.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docs/PRODUCTION_GATE.md; docs/MODULE4_HLD.md; output/benchmarks/capacity_50_assumptions.json; output/benchmarks/capacity_80000_assumptions.json. These are phases and assumptions, not completed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Sentinel integration reference; docs/SENTINEL_OFFLINE_READINESS.md; docs/SUBMISSION_READINESS.md. Government footage stays private with the organisers. Local protocol tests do not prove Government integration or Indian-road model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0eec477464b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4e42b30654674" /><Relationship Type="http://schemas.openxmlformats.org/officeDocument/2006/relationships/slideLayout" Target="/ppt/slideLayouts/slideLayout1.xml" Id="Rbbd47572b18047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d47572b18047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938d96e5c4d47" /><Relationship Type="http://schemas.openxmlformats.org/officeDocument/2006/relationships/image" Target="/ppt/media/image.png" Id="R53ac671b284d43c1" /><Relationship Type="http://schemas.openxmlformats.org/officeDocument/2006/relationships/notesSlide" Target="/ppt/notesSlides/notesSlide1.xml" Id="R61f65389ad37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ae3ff27124c82" /><Relationship Type="http://schemas.openxmlformats.org/officeDocument/2006/relationships/notesSlide" Target="/ppt/notesSlides/notesSlide2.xml" Id="R04c9f6fb4cb446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13d2089f54a02" /><Relationship Type="http://schemas.openxmlformats.org/officeDocument/2006/relationships/notesSlide" Target="/ppt/notesSlides/notesSlide3.xml" Id="R05fddc97cb7b42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8ab9ef2f846cc" /><Relationship Type="http://schemas.openxmlformats.org/officeDocument/2006/relationships/notesSlide" Target="/ppt/notesSlides/notesSlide4.xml" Id="Rdfdb55a95f794a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88582bcc347ea" /><Relationship Type="http://schemas.openxmlformats.org/officeDocument/2006/relationships/image" Target="/ppt/media/image2.png" Id="Ra0c616648db2469a" /><Relationship Type="http://schemas.openxmlformats.org/officeDocument/2006/relationships/notesSlide" Target="/ppt/notesSlides/notesSlide5.xml" Id="R4e975c62706441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6f99acc374977" /><Relationship Type="http://schemas.openxmlformats.org/officeDocument/2006/relationships/notesSlide" Target="/ppt/notesSlides/notesSlide6.xml" Id="R8f35c001c4e0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f6d97bbe04f0d" /><Relationship Type="http://schemas.openxmlformats.org/officeDocument/2006/relationships/notesSlide" Target="/ppt/notesSlides/notesSlide7.xml" Id="R2fb5b52c6a0b4d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a111202c940bf" /><Relationship Type="http://schemas.openxmlformats.org/officeDocument/2006/relationships/notesSlide" Target="/ppt/notesSlides/notesSlide8.xml" Id="R6a42231a49f742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cb97c4ce84a9b" /><Relationship Type="http://schemas.openxmlformats.org/officeDocument/2006/relationships/notesSlide" Target="/ppt/notesSlides/notesSlide9.xml" Id="Rf8f10356789843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c671b284d43c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F4362-0C8D-4C01-BE87-CE5805E1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SakhyaPath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47A1D-5843-47F1-AEA4-5B5BF77F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5257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Evidence backed CCTV intelligence for Gujarat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36EA-A02E-42AB-8B46-A54CC67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HYBRID ARCHITECTURE  ·  LOCAL PROTOTYPE</a:t>
            </a:r>
          </a:p>
        </p:txBody>
      </p:sp>
    </p:spTree>
    <p:extLst>
      <p:ext uri="{BB962C8B-B14F-4D97-AF65-F5344CB8AC3E}">
        <p14:creationId xmlns:p14="http://schemas.microsoft.com/office/powerpoint/2010/main" val="1213580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F68EE-1765-49D8-87EF-57BF2F2E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PROBLEM AND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E93D3-C8E8-4CE1-82D7-328EEC3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C024B-C296-4DB9-9CEF-BA92C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0F4A1-9FEE-4C22-B5C8-0103DC0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EE2F7-E50F-49DA-B2B6-CBEC55F6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26 departments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AFF2F-49AF-4D69-8A30-FB8AFB3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Existing CCTV spans different vendors, formats and locations.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31531-41DC-422E-BBD7-463A5CF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Mandatory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E4217-A4A4-474D-90DA-5F6A627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67025"/>
            <a:ext cx="45720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A common camera registry and GIS view must precede selective analytics and cross camera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A5F1F-586C-4088-946D-0AD16097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The live evaluation calls for roughly 50 heterogeneous feeds, vehicle history, watchlist alerts and a credible path to about 80,000 cameras.</a:t>
            </a:r>
          </a:p>
        </p:txBody>
      </p:sp>
    </p:spTree>
    <p:extLst>
      <p:ext uri="{BB962C8B-B14F-4D97-AF65-F5344CB8AC3E}">
        <p14:creationId xmlns:p14="http://schemas.microsoft.com/office/powerpoint/2010/main" val="2044587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44809-9326-44E7-B52F-81B4198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13483-7283-4FA4-A7EA-F4CA76E8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What we built locally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2DA73-BED2-4A80-AC81-400C9A6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3D8C6-66BA-426B-A5A8-4F93D222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551F3-FC8D-4C2D-B961-9FE67E2C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0EF34-A902-460D-AE8F-4E91614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03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Camera grid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F26EE-1C67-4FF1-A3F5-2CDD1F71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3219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Registry, map, Sentinel catalogue adapter, owned RTSP/HLS capture and controlled preview.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913F3-81B6-475A-AD52-8E000AB2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812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E66D2-B716-4537-A570-11E3415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003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Evidence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3C46E-4AD6-4B0F-B949-E2DCCF8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81375"/>
            <a:ext cx="3219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Plate reads, crops, watchlist alerts, historical search, journey map and reviewer corrections.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10479-C53E-429C-A4DF-39BD14DF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8120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5FD2A-F3F5-42B0-BB3A-62004C5D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0325"/>
            <a:ext cx="321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Adaptive pursuit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F1090-00F7-465D-86D3-64DA924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81375"/>
            <a:ext cx="3219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Measured analysis budget, camera ranking and a ledger that records what was viewed, missed or unavailable.</a:t>
            </a:r>
          </a:p>
        </p:txBody>
      </p:sp>
    </p:spTree>
    <p:extLst>
      <p:ext uri="{BB962C8B-B14F-4D97-AF65-F5344CB8AC3E}">
        <p14:creationId xmlns:p14="http://schemas.microsoft.com/office/powerpoint/2010/main" val="389634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7A4C8-57B3-417B-88BF-B57131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USER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13CD7-808D-4AB7-902F-D030564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 case follows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343BC-5156-40FF-B313-85EB2A2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8D887-0997-4613-8D1F-1F57F2ED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AA4E4-8214-425C-86C2-4E5872D2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1  Register a vehicle of interest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955A6-459C-4DA4-B7A8-2EC08690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527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2  Read authorised camera frames and save source timing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280DF-122C-4C3E-A08F-E4000C9C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3  Confirm plate evidence and compare with the watchlist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C959D-232F-4503-A6C6-78F5B5A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4  Show the journey, uncertainty and coverage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795F2-AAB6-4BC2-B01C-35EDB619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 human reviewer can correct detections and export the case report.</a:t>
            </a:r>
          </a:p>
        </p:txBody>
      </p:sp>
    </p:spTree>
    <p:extLst>
      <p:ext uri="{BB962C8B-B14F-4D97-AF65-F5344CB8AC3E}">
        <p14:creationId xmlns:p14="http://schemas.microsoft.com/office/powerpoint/2010/main" val="600574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B6E9B-AD85-47E8-B3E9-395CD576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DISTINCTIVE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D956B-F3B7-4F86-B6A2-2695BF2C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Coverage is part of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6B7DD-6645-4519-8532-2EF1E42C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65A18-40C1-47AD-AB56-581CF8E1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16648db2469a"/>
          <a:srcRect xmlns:a="http://schemas.openxmlformats.org/drawingml/2006/main" l="10935" t="0" r="109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695450"/>
            <a:ext cx="5619750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7531C-239E-46D2-A3A3-6E9AAA44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The ledger records: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C5B42-9D71-4C51-AF1C-F33DF10B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0537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Seen and analysed</a:t>
            </a:r>
          </a:p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Available but skipped</a:t>
            </a:r>
          </a:p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Temporarily unavailable</a:t>
            </a:r>
          </a:p>
          <a:p xmlns:a="http://schemas.openxmlformats.org/drawingml/2006/main">
            <a:pPr>
              <a:defRPr sz="1950" b="0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5D89"/>
                </a:solidFill>
                <a:latin typeface="Arial"/>
                <a:ea typeface="Arial"/>
                <a:cs typeface="Arial"/>
              </a:rPr>
              <a:t>Unknown or unverified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D24D2-5134-4609-97C0-12B96BC4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4953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 missing sighting is not proof that a vehicle was absent.</a:t>
            </a:r>
          </a:p>
        </p:txBody>
      </p:sp>
    </p:spTree>
    <p:extLst>
      <p:ext uri="{BB962C8B-B14F-4D97-AF65-F5344CB8AC3E}">
        <p14:creationId xmlns:p14="http://schemas.microsoft.com/office/powerpoint/2010/main" val="626876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7962B-D347-4B5A-9421-2147AAE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8D7AE-0865-4F05-8405-7047DC1F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 measured local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B8799-A545-4811-AF47-44F8CD4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74E33-EA4D-4B5C-9083-6500B23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026AF-DACE-4BCC-BA16-90739A55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09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CBE07-1163-4075-8B6B-78ECA756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95525"/>
            <a:ext cx="666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owned replay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2D2A1-1832-41E2-ABF1-03E7C73A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249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AAEC2-B9CF-4DDE-810A-2B18198E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909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analysed frames in 20.634 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0F0D5-6D8B-4EF6-B16E-7BCDC4F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9810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12.067 fps observed across both feeds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7F62D-9959-4878-9B3C-F069022E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Planning budget: 8.447 fps with a 30% reserve. This is a local, two feed test; it is not a statewide capacity result.</a:t>
            </a:r>
          </a:p>
        </p:txBody>
      </p:sp>
    </p:spTree>
    <p:extLst>
      <p:ext uri="{BB962C8B-B14F-4D97-AF65-F5344CB8AC3E}">
        <p14:creationId xmlns:p14="http://schemas.microsoft.com/office/powerpoint/2010/main" val="1698200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559E8-382A-472C-BFCE-5F60F56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7412-5F4B-4BCA-829A-2C2D198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Adaptive sampling has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85D1-0227-471B-90FB-AB2DCC3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68FFE-773C-4894-AC21-132C8A6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EFE26-5782-4762-A715-1F734820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857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Expected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DCB1C-70BC-434C-9BAB-16A2F2D6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667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The adaptive allocator found more target observations under the same sample budget.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8FB4-4DB5-41EE-8444-38D963F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4857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Surprise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5A0E2-60C1-43DC-9FF6-CFC297D3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0350"/>
            <a:ext cx="46386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Uniform sampling found the unpredicted route more often in the controlled 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CC77D-ED04-4E81-9F78-D7D6FB47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1028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Next validation: reset recorded routes, common clock checks and held out ground truth from multiple cameras.</a:t>
            </a:r>
          </a:p>
        </p:txBody>
      </p:sp>
    </p:spTree>
    <p:extLst>
      <p:ext uri="{BB962C8B-B14F-4D97-AF65-F5344CB8AC3E}">
        <p14:creationId xmlns:p14="http://schemas.microsoft.com/office/powerpoint/2010/main" val="755719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72B01-047C-4DFE-B9E1-3BF898E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SCALE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8EF39-3950-4134-887A-AB6D1C8B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Path to Government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96166-72E8-4205-BBD2-B950C19C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87760-ED0F-446C-AFA8-8872D992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052FC-C1F2-442F-879C-F4AACCF4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063E0-6521-46CD-B8E9-FF9317E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Authorised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19BB4-E130-4579-9FB0-D24B4287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238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Prove catalogue sync, mixed codecs, source timestamps, 50 feed onboarding and timestamped detections.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97352-24A4-46CA-8131-2CB6ADD1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95597-800D-46DD-A07B-C1A56569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Regional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2C00E-9B93-4AED-8C47-408817DB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52800"/>
            <a:ext cx="3238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Add PostgreSQL/PostGIS, durable events, regional capture workers and encrypted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9700E-56C8-42AD-A94C-44C3C08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526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6830E-EB68-447C-ABF9-44B5212B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Statewide expansion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3CB0F-A4CD-495F-8651-D3D496C5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3238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Size active analysis, bandwidth, retention and recovery from measured pilot data.</a:t>
            </a:r>
          </a:p>
        </p:txBody>
      </p:sp>
    </p:spTree>
    <p:extLst>
      <p:ext uri="{BB962C8B-B14F-4D97-AF65-F5344CB8AC3E}">
        <p14:creationId xmlns:p14="http://schemas.microsoft.com/office/powerpoint/2010/main" val="1591844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D1D49-C631-407A-AC35-025E7AA4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SUBMISSION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DB302-FE8F-4821-B1B3-EFD5739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934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937"/>
                </a:solidFill>
                <a:latin typeface="Arial"/>
                <a:ea typeface="Arial"/>
                <a:cs typeface="Arial"/>
              </a:rPr>
              <a:t>Private live test still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C0CCA-95A2-4808-8301-A5700E3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SAKHYAPATH  ·  GUJARAT CCTV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180F4-1412-41E6-9AC4-9A4307E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498BA-74E0-4A84-A93A-796BD3E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Sentinel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B0D51-E375-4F26-80DC-21876D94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4762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Approve the account and provide the private catalogue origin and authentication.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49E66-1ABB-40AA-A0A8-3380154C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8595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5D8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5D89"/>
                </a:solidFill>
                <a:latin typeface="Arial"/>
                <a:ea typeface="Arial"/>
                <a:cs typeface="Arial"/>
              </a:rPr>
              <a:t>Organiser live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255E8-E20D-46EA-874B-55CD732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4762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Evaluators supply private feeds and target vehicles. No Government footage leaves their sandbox.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D79F1-8A20-4F12-8EAB-72C1A1E5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Approved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0A147-B8E5-4544-A34D-DC9B123B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4857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Show timed detections and a derived report live. Save media only when expressly permitted.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46303-6044-4B6B-9BC0-1006A180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717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97A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97A32"/>
                </a:solidFill>
                <a:latin typeface="Arial"/>
                <a:ea typeface="Arial"/>
                <a:cs typeface="Arial"/>
              </a:rPr>
              <a:t>Reproducible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6DC55-83B5-40AE-A89C-76FCF13C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386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93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937"/>
                </a:solidFill>
                <a:latin typeface="Arial"/>
                <a:ea typeface="Arial"/>
                <a:cs typeface="Arial"/>
              </a:rPr>
              <a:t>Publish the presentation, HLD and code. Follow the organiser’s rule for any live-test recording.</a:t>
            </a:r>
          </a:p>
        </p:txBody>
      </p:sp>
    </p:spTree>
    <p:extLst>
      <p:ext uri="{BB962C8B-B14F-4D97-AF65-F5344CB8AC3E}">
        <p14:creationId xmlns:p14="http://schemas.microsoft.com/office/powerpoint/2010/main" val="665810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2026-09-28T13:08:32.8800000Z</dcterms:created>
  <dcterms:modified xsi:type="dcterms:W3CDTF">2026-09-28T13:08:32.8800000Z</dcterms:modified>
</coreProperties>
</file>